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be2f1ce6594a75" /><Relationship Type="http://schemas.openxmlformats.org/officeDocument/2006/relationships/extended-properties" Target="/docProps/app.xml" Id="Rba92204ac92044d4" /><Relationship Type="http://schemas.openxmlformats.org/officeDocument/2006/relationships/officeDocument" Target="/ppt/presentation.xml" Id="Ref48f308c7c841d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e3cc4f35e224a0f"/>
  </p:sldMasterIdLst>
  <p:notesMasterIdLst>
    <p:notesMasterId xmlns:r="http://schemas.openxmlformats.org/officeDocument/2006/relationships" r:id="R835666235dd84f25"/>
  </p:notesMasterIdLst>
  <p:sldIdLst>
    <p:sldId xmlns:r="http://schemas.openxmlformats.org/officeDocument/2006/relationships" id="256" r:id="R6956e13bcf84425c"/>
    <p:sldId xmlns:r="http://schemas.openxmlformats.org/officeDocument/2006/relationships" id="257" r:id="R1e4fedcb023d472e"/>
    <p:sldId xmlns:r="http://schemas.openxmlformats.org/officeDocument/2006/relationships" id="258" r:id="Ra63a0381c3824763"/>
    <p:sldId xmlns:r="http://schemas.openxmlformats.org/officeDocument/2006/relationships" id="259" r:id="R21624139f02c45c5"/>
    <p:sldId xmlns:r="http://schemas.openxmlformats.org/officeDocument/2006/relationships" id="260" r:id="R69dfb05bc3d14f2b"/>
    <p:sldId xmlns:r="http://schemas.openxmlformats.org/officeDocument/2006/relationships" id="261" r:id="R20b289f062614bb6"/>
    <p:sldId xmlns:r="http://schemas.openxmlformats.org/officeDocument/2006/relationships" id="262" r:id="R0379c4b1ec2743b0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c3e72b18d5f54a51"/>
      <p:bold xmlns:r="http://schemas.openxmlformats.org/officeDocument/2006/relationships" r:id="R82179218121443d2"/>
      <p:italic xmlns:r="http://schemas.openxmlformats.org/officeDocument/2006/relationships" r:id="Rac8540c5fe804a8d"/>
      <p:boldItalic xmlns:r="http://schemas.openxmlformats.org/officeDocument/2006/relationships" r:id="Rcc3c1091b19b4d94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c7978c8ef049e9" /><Relationship Type="http://schemas.openxmlformats.org/officeDocument/2006/relationships/slideMaster" Target="/ppt/slideMasters/slideMaster1.xml" Id="R1e3cc4f35e224a0f" /><Relationship Type="http://schemas.openxmlformats.org/officeDocument/2006/relationships/notesMaster" Target="/ppt/notesMasters/notesMaster1.xml" Id="R835666235dd84f25" /><Relationship Type="http://schemas.openxmlformats.org/officeDocument/2006/relationships/presProps" Target="/ppt/presProps.xml" Id="Re4c8f1c8e0324b51" /><Relationship Type="http://schemas.openxmlformats.org/officeDocument/2006/relationships/viewProps" Target="/ppt/viewProps.xml" Id="R62913eca929e4a7a" /><Relationship Type="http://schemas.openxmlformats.org/officeDocument/2006/relationships/tableStyles" Target="/ppt/tableStyles.xml" Id="R62c79d87a8ff4759" /><Relationship Type="http://schemas.openxmlformats.org/officeDocument/2006/relationships/font" Target="/ppt/fonts/font.dat" Id="Rc3e72b18d5f54a51" /><Relationship Type="http://schemas.openxmlformats.org/officeDocument/2006/relationships/font" Target="/ppt/fonts/font2.dat" Id="R82179218121443d2" /><Relationship Type="http://schemas.openxmlformats.org/officeDocument/2006/relationships/font" Target="/ppt/fonts/font3.dat" Id="Rac8540c5fe804a8d" /><Relationship Type="http://schemas.openxmlformats.org/officeDocument/2006/relationships/font" Target="/ppt/fonts/font4.dat" Id="Rcc3c1091b19b4d94" /><Relationship Type="http://schemas.openxmlformats.org/officeDocument/2006/relationships/slide" Target="/ppt/slides/slide1.xml" Id="R6956e13bcf84425c" /><Relationship Type="http://schemas.openxmlformats.org/officeDocument/2006/relationships/slide" Target="/ppt/slides/slide2.xml" Id="R1e4fedcb023d472e" /><Relationship Type="http://schemas.openxmlformats.org/officeDocument/2006/relationships/slide" Target="/ppt/slides/slide3.xml" Id="Ra63a0381c3824763" /><Relationship Type="http://schemas.openxmlformats.org/officeDocument/2006/relationships/slide" Target="/ppt/slides/slide4.xml" Id="R21624139f02c45c5" /><Relationship Type="http://schemas.openxmlformats.org/officeDocument/2006/relationships/slide" Target="/ppt/slides/slide5.xml" Id="R69dfb05bc3d14f2b" /><Relationship Type="http://schemas.openxmlformats.org/officeDocument/2006/relationships/slide" Target="/ppt/slides/slide6.xml" Id="R20b289f062614bb6" /><Relationship Type="http://schemas.openxmlformats.org/officeDocument/2006/relationships/slide" Target="/ppt/slides/slide7.xml" Id="R0379c4b1ec2743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2eff7c2b3548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FFFFFF"/>
      </a:hlink>
      <a:folHlink>
        <a:srgbClr val="9E9E9E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93a599a6384761" /><Relationship Type="http://schemas.openxmlformats.org/officeDocument/2006/relationships/notesMaster" Target="/ppt/notesMasters/notesMaster1.xml" Id="Re2e58f4df74846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c1edef8b914139" /><Relationship Type="http://schemas.openxmlformats.org/officeDocument/2006/relationships/notesMaster" Target="/ppt/notesMasters/notesMaster1.xml" Id="Ra81ac2e356dd4b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f2d2b2555a4259" /><Relationship Type="http://schemas.openxmlformats.org/officeDocument/2006/relationships/notesMaster" Target="/ppt/notesMasters/notesMaster1.xml" Id="R1a42bff0558a48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ce608ad6ee4a68" /><Relationship Type="http://schemas.openxmlformats.org/officeDocument/2006/relationships/notesMaster" Target="/ppt/notesMasters/notesMaster1.xml" Id="R1ae4fc55356744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ae88ec0df14fc2" /><Relationship Type="http://schemas.openxmlformats.org/officeDocument/2006/relationships/notesMaster" Target="/ppt/notesMasters/notesMaster1.xml" Id="R7f9953534c3f4e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c687edbd8749c9" /><Relationship Type="http://schemas.openxmlformats.org/officeDocument/2006/relationships/notesMaster" Target="/ppt/notesMasters/notesMaster1.xml" Id="Raa6927aac3d647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ffc02077044bb9" /><Relationship Type="http://schemas.openxmlformats.org/officeDocument/2006/relationships/notesMaster" Target="/ppt/notesMasters/notesMaster1.xml" Id="R1f69cfa6053841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independent portfolio work by Anthony C. Moncion. Public portfolio: https://ruca-mobile-presentation-hub.vercel.app/portfolio/. Uses the retained Simple Dark Mode template.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current public RUCA OS demonstration, captured at 1600 by 900 on September 10, 2026. Front-end derived from the verified live-served September 9 source, based on 3ce2807 with current refinements. https://ruca-mobile-presentation-hub.vercel.app/demo/. Visible footer and System Heart identify simulated demonstration data. Private workstation telemetry and commands remain separate.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Figma file vo2DuY25t0yN7O9VxjcWjc, node 53:8, exported September 10, 2026. https://ruca-mobile-presentation-hub.vercel.app/mobile-showcase/. This is the current V1 design, not an installed-device screenshot.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native Android validation capture dated September 7, 2026 at 13:38. The screenshot precedes later repairs that day. The captured state is not a claim about final repair validation.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https://ruca-mobile-presentation-hub.vercel.app/portfolio/la-cosa-nostra/ and https://ruca-mobile-presentation-hub.vercel.app/portfolio/catskills-grocery/. Both are independent projects. La Cosa Nostra is a local prototype. Summer Grocery Delivery in the Catskills is a design proposal with no implemented operation or client outcome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existing public resume and certificate PDFs. UX verification: https://coursera.org/verify/professional-cert/9HA7GIF9HSYN. Advanced Data Analytics verification: https://coursera.org/verify/professional-cert/8EW8G2NR5GMU.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Portfolio: https://ruca-mobile-presentation-hub.vercel.app/portfolio/</a:t>
            </a:r>
            <a:endParaRPr/>
          </a:p>
          <a:p xmlns:a="http://schemas.openxmlformats.org/drawingml/2006/main">
            <a:r>
              <a:t>Resume: https://ruca-mobile-presentation-hub.vercel.app/resume/Anthony_Moncion_Interaction_Designer_Public_Resume.pdf</a:t>
            </a:r>
            <a:endParaRPr/>
          </a:p>
          <a:p xmlns:a="http://schemas.openxmlformats.org/drawingml/2006/main">
            <a:r>
              <a:t>Contact: mailto:hello@rucasrapidpcrepairlab.com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6a26863374b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17450414f48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b0d604f2b24f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77c395bb042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0a596ffb14a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4a758cb7a84a9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7e6fc57c854c8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c9652ad56455f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2e0c5155264267" /><Relationship Type="http://schemas.openxmlformats.org/officeDocument/2006/relationships/slideLayout" Target="/ppt/slideLayouts/slideLayout1.xml" Id="Rab854591ccdc4169" /><Relationship Type="http://schemas.openxmlformats.org/officeDocument/2006/relationships/slideLayout" Target="/ppt/slideLayouts/slideLayout2.xml" Id="Rfc8b340ee72a44c7" /><Relationship Type="http://schemas.openxmlformats.org/officeDocument/2006/relationships/slideLayout" Target="/ppt/slideLayouts/slideLayout3.xml" Id="Rbfe3d27e6fdc4b48" /><Relationship Type="http://schemas.openxmlformats.org/officeDocument/2006/relationships/slideLayout" Target="/ppt/slideLayouts/slideLayout4.xml" Id="Rb63f14660b15445f" /><Relationship Type="http://schemas.openxmlformats.org/officeDocument/2006/relationships/slideLayout" Target="/ppt/slideLayouts/slideLayout5.xml" Id="Ra21a5dd5e4904767" /><Relationship Type="http://schemas.openxmlformats.org/officeDocument/2006/relationships/slideLayout" Target="/ppt/slideLayouts/slideLayout6.xml" Id="R4abbd446d5b7411c" /><Relationship Type="http://schemas.openxmlformats.org/officeDocument/2006/relationships/slideLayout" Target="/ppt/slideLayouts/slideLayout7.xml" Id="R5e8d41145b2d40e0" /><Relationship Type="http://schemas.openxmlformats.org/officeDocument/2006/relationships/slideLayout" Target="/ppt/slideLayouts/slideLayout8.xml" Id="Reff06ec337b540e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854591ccdc4169"/>
    <p:sldLayoutId xmlns:r="http://schemas.openxmlformats.org/officeDocument/2006/relationships" id="2147483650" r:id="Rfc8b340ee72a44c7"/>
    <p:sldLayoutId xmlns:r="http://schemas.openxmlformats.org/officeDocument/2006/relationships" id="2147483651" r:id="Rbfe3d27e6fdc4b48"/>
    <p:sldLayoutId xmlns:r="http://schemas.openxmlformats.org/officeDocument/2006/relationships" id="2147483652" r:id="Rb63f14660b15445f"/>
    <p:sldLayoutId xmlns:r="http://schemas.openxmlformats.org/officeDocument/2006/relationships" id="2147483653" r:id="Ra21a5dd5e4904767"/>
    <p:sldLayoutId xmlns:r="http://schemas.openxmlformats.org/officeDocument/2006/relationships" id="2147483654" r:id="R4abbd446d5b7411c"/>
    <p:sldLayoutId xmlns:r="http://schemas.openxmlformats.org/officeDocument/2006/relationships" id="2147483655" r:id="R5e8d41145b2d40e0"/>
    <p:sldLayoutId xmlns:r="http://schemas.openxmlformats.org/officeDocument/2006/relationships" id="2147483656" r:id="Reff06ec337b540e2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FFFFFF"/>
      </a:hlink>
      <a:folHlink>
        <a:srgbClr val="9E9E9E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680586dcb490e" /><Relationship Type="http://schemas.openxmlformats.org/officeDocument/2006/relationships/notesSlide" Target="/ppt/notesSlides/notesSlide1.xml" Id="R0a591c71e6bd456f" 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7f00199feea45de"/><Relationship Type="http://schemas.openxmlformats.org/officeDocument/2006/relationships/image" Target="/ppt/media/image.jpeg" Id="R78b7315633274ff7"/><Relationship Type="http://schemas.openxmlformats.org/officeDocument/2006/relationships/notesSlide" Target="/ppt/notesSlides/notesSlide2.xml" Id="R70a98d01474640a1"/><Relationship Id="rIdPortfolio2_0" Type="http://schemas.openxmlformats.org/officeDocument/2006/relationships/hyperlink" Target="https://ruca-mobile-presentation-hub.vercel.app/demo/" TargetMode="Externa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c25b70fac2047d1"/><Relationship Type="http://schemas.openxmlformats.org/officeDocument/2006/relationships/image" Target="/ppt/media/image.png" Id="R559db6124ec241bf"/><Relationship Type="http://schemas.openxmlformats.org/officeDocument/2006/relationships/notesSlide" Target="/ppt/notesSlides/notesSlide3.xml" Id="Rd128848f2f8b4cf9"/><Relationship Id="rIdPortfolio3_0" Type="http://schemas.openxmlformats.org/officeDocument/2006/relationships/hyperlink" Target="https://ruca-mobile-presentation-hub.vercel.app/mobile-showcase/" TargetMode="Externa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4f15030c2564a26"/><Relationship Type="http://schemas.openxmlformats.org/officeDocument/2006/relationships/image" Target="/ppt/media/image2.png" Id="R9a0750d6066548c2"/><Relationship Type="http://schemas.openxmlformats.org/officeDocument/2006/relationships/notesSlide" Target="/ppt/notesSlides/notesSlide4.xml" Id="Ra66784b9fe0a4ee5"/><Relationship Id="rIdPortfolio4_0" Type="http://schemas.openxmlformats.org/officeDocument/2006/relationships/hyperlink" Target="https://ruca-mobile-presentation-hub.vercel.app/mobile-showcase/" TargetMode="External"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35e0bea81c4576" /><Relationship Type="http://schemas.openxmlformats.org/officeDocument/2006/relationships/notesSlide" Target="/ppt/notesSlides/notesSlide5.xml" Id="Rbbb701b2336746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fbefbcb0e1431e" /><Relationship Type="http://schemas.openxmlformats.org/officeDocument/2006/relationships/notesSlide" Target="/ppt/notesSlides/notesSlide6.xml" Id="R3b05ccaf32b64251" 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3bb1982c2cf462a"/><Relationship Type="http://schemas.openxmlformats.org/officeDocument/2006/relationships/notesSlide" Target="/ppt/notesSlides/notesSlide7.xml" Id="Rdd1fe6c8dc5247b9"/><Relationship Id="rIdPortfolio7_0" Type="http://schemas.openxmlformats.org/officeDocument/2006/relationships/hyperlink" Target="https://ruca-mobile-presentation-hub.vercel.app/portfolio/" TargetMode="External"/><Relationship Id="rIdPortfolio7_1" Type="http://schemas.openxmlformats.org/officeDocument/2006/relationships/hyperlink" Target="https://ruca-mobile-presentation-hub.vercel.app/resume/Anthony_Moncion_Interaction_Designer_Public_Resume.pdf" TargetMode="External"/><Relationship Id="rIdPortfolio7_2" Type="http://schemas.openxmlformats.org/officeDocument/2006/relationships/hyperlink" Target="mailto:hello@rucasrapidpcrepairlab.com" TargetMode="Externa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371269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Anthony Moncion
Product design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6157826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Selected independent work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2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RUCA OS</a:t>
            </a:r>
          </a:p>
        </p:txBody>
      </p:sp>
      <p:pic>
        <p:nvPicPr>
          <p:cNvPr id="538" name="Picture 3">
            <ns0:hlinkClick xmlns:ns0="http://schemas.openxmlformats.org/drawingml/2006/main" xmlns:ns1="http://schemas.openxmlformats.org/officeDocument/2006/relationships" ns1:id="rIdPortfolio2_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7315633274ff7"/>
          <a:stretch xmlns:a="http://schemas.openxmlformats.org/drawingml/2006/main"/>
        </p:blipFill>
        <p:spPr>
          <a:xfrm xmlns:a="http://schemas.openxmlformats.org/drawingml/2006/main">
            <a:off x="6269040" y="1639392"/>
            <a:ext cx="5539740" cy="3116104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Desktop product system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One shell brings readiness, commands, media, live context, diagnostics, and controls together. The current direction uses the System Heart, mechanical gauges, and a galaxy field.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My work: product direction, information architecture, interaction requirements, visual direction, and implementation review.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Public demo: an interactive simulation with demonstration states.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3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RUCA OS Mobile Companion</a:t>
            </a:r>
          </a:p>
        </p:txBody>
      </p:sp>
      <p:pic>
        <p:nvPicPr>
          <p:cNvPr id="538" name="Picture 3">
            <ns0:hlinkClick xmlns:ns0="http://schemas.openxmlformats.org/drawingml/2006/main" xmlns:ns1="http://schemas.openxmlformats.org/officeDocument/2006/relationships" ns1:id="rIdPortfolio3_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db6124ec241bf"/>
          <a:stretch xmlns:a="http://schemas.openxmlformats.org/drawingml/2006/main"/>
        </p:blipFill>
        <p:spPr>
          <a:xfrm xmlns:a="http://schemas.openxmlformats.org/drawingml/2006/main">
            <a:off x="6269040" y="1951003"/>
            <a:ext cx="5539740" cy="2492883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Current V1 design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 touch interface with six configurable HOME ports and five destinations: HOME, MEDIA, SYSTEM HEART, COMMAND DECK, and DIAGNOSTICS.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Connection feedback and consistent command meaning keep the companion aligned with the desktop product.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Current Figma frame exported September 10, 2026.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4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native Android foundation</a:t>
            </a:r>
          </a:p>
        </p:txBody>
      </p:sp>
      <p:pic>
        <p:nvPicPr>
          <p:cNvPr id="538" name="Picture 3">
            <ns0:hlinkClick xmlns:ns0="http://schemas.openxmlformats.org/drawingml/2006/main" xmlns:ns1="http://schemas.openxmlformats.org/officeDocument/2006/relationships" ns1:id="rIdPortfolio4_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750d6066548c2"/>
          <a:stretch xmlns:a="http://schemas.openxmlformats.org/drawingml/2006/main"/>
        </p:blipFill>
        <p:spPr>
          <a:xfrm xmlns:a="http://schemas.openxmlformats.org/drawingml/2006/main">
            <a:off x="6269040" y="1951003"/>
            <a:ext cx="5539740" cy="2492883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Device validation evidence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existing Android implementation provides a working companion foundation. This screenshot records the native HOME surface during device validation on September 7, 2026.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current V1 design and the installed build represent different stages of the product. The portfolio labels each source and date.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Capture precedes later repairs on the same day.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5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Workflow and service design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La Cosa Nostra Design Studio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An independent local prototype for AI-assisted work. Missions carry project context, assigned responsibility, progress, and review evidence. Human approval remains explicit before consequential actions.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My work: workflow architecture, mission lifecycle, state language, and product direction.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Summer Grocery Delivery in the Catskills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 service design proposal for seasonal fulfillment. Delivery zones, order stages, staging, dispatch, and exception paths connect physical work with visible information.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My work: territory structure, order lifecycle, physical flow, and exception handling. Implementation and operating outcomes remain unvalidated.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6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From operations to product design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Interaction design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Figma, information architecture, product requirements, and working prototypes.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Operational responsibility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USPS work supported approximately 75 employees and 49 city and rural routes.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Google Advanced Data Analytics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Professional Certificate completed July 31, 2026.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Google UX Design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Professional Certificate completed July 10, 2026.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Experience that shapes the work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Postal operations and hospitality inform how I design handoffs, state, recovery, and the information people need to act.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>
                <a:solidFill>
                  <a:srgbClr val="FFFFFF"/>
                </a:solidFill>
              </a:rPr>
              <a:t>Explore the work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FFFFFF"/>
                </a:solidFill>
                <a:hlinkClick xmlns:ns0="http://schemas.openxmlformats.org/officeDocument/2006/relationships" ns0:id="rIdPortfolio7_0"/>
              </a:rPr>
              <a:t>Open portfolio and demos</a:t>
            </a:r>
          </a:p>
          <a:p xmlns:a="http://schemas.openxmlformats.org/drawingml/2006/main">
            <a:r>
              <a:rPr sz="2000">
                <a:solidFill>
                  <a:srgbClr val="FFFFFF"/>
                </a:solidFill>
                <a:hlinkClick xmlns:ns1="http://schemas.openxmlformats.org/officeDocument/2006/relationships" ns1:id="rIdPortfolio7_1"/>
              </a:rPr>
              <a:t>Read the resume</a:t>
            </a:r>
          </a:p>
          <a:p xmlns:a="http://schemas.openxmlformats.org/drawingml/2006/main">
            <a:r>
              <a:rPr sz="2000">
                <a:solidFill>
                  <a:srgbClr val="FFFFFF"/>
                </a:solidFill>
                <a:hlinkClick xmlns:ns2="http://schemas.openxmlformats.org/officeDocument/2006/relationships" ns2:id="rIdPortfolio7_2"/>
              </a:rPr>
              <a:t>Contact Anthony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rgbClr val="FFFFFF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FFFFFF"/>
      </a:hlink>
      <a:folHlink>
        <a:srgbClr val="9E9E9E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Anthony C. Moncion</dc:creator>
  <lastModifiedBy>Anthony C. Moncion</lastModifiedBy>
  <dc:title>Anthony Moncion Product Design Portfolio</dc:title>
  <dcterms:created xsi:type="dcterms:W3CDTF">2026-09-10T18:15:31.7010000Z</dcterms:created>
  <dcterms:modified xsi:type="dcterms:W3CDTF">2026-09-10T18:15:31.7010000Z</dcterms:modified>
  <dc:description>Selected independent product design work, September 2026</dc:description>
</coreProperties>
</file>